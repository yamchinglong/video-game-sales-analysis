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8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788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1348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9836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447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470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243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104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0617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1732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2192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70396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4478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93027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47409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98915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62793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5907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BAA882-B79A-4E00-A574-73A276F2B289}" type="datetimeFigureOut">
              <a:rPr lang="zh-HK" altLang="en-US" smtClean="0"/>
              <a:t>18/4/2026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5BC4809-8DEF-4AC2-BD13-1D57569115D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5652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38839-623E-AA49-BF17-FCD459CF8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937" y="1584960"/>
            <a:ext cx="10546080" cy="2926080"/>
          </a:xfrm>
        </p:spPr>
        <p:txBody>
          <a:bodyPr>
            <a:normAutofit/>
          </a:bodyPr>
          <a:lstStyle/>
          <a:p>
            <a:r>
              <a:rPr lang="en-US" altLang="zh-HK" b="1" dirty="0"/>
              <a:t>AI Data Analytics Mini Project 1</a:t>
            </a:r>
            <a:br>
              <a:rPr lang="en-US" altLang="zh-HK" b="1" dirty="0"/>
            </a:br>
            <a:r>
              <a:rPr lang="en-US" altLang="zh-HK" b="1" dirty="0"/>
              <a:t> </a:t>
            </a:r>
            <a:r>
              <a:rPr lang="en-US" altLang="zh-HK" sz="3500" dirty="0"/>
              <a:t>Exploratory Data Analysis (EDA) </a:t>
            </a:r>
            <a:br>
              <a:rPr lang="en-US" altLang="zh-HK" sz="3500" dirty="0"/>
            </a:br>
            <a:br>
              <a:rPr lang="en-US" altLang="zh-HK" sz="3500" dirty="0"/>
            </a:br>
            <a:r>
              <a:rPr lang="en-US" altLang="zh-HK" sz="4000" cap="none" dirty="0"/>
              <a:t>Group 3, Member: Yam Ching Long </a:t>
            </a:r>
            <a:endParaRPr lang="zh-HK" altLang="en-US" sz="4000" cap="none" dirty="0"/>
          </a:p>
        </p:txBody>
      </p:sp>
    </p:spTree>
    <p:extLst>
      <p:ext uri="{BB962C8B-B14F-4D97-AF65-F5344CB8AC3E}">
        <p14:creationId xmlns:p14="http://schemas.microsoft.com/office/powerpoint/2010/main" val="58076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2B5D19C-F1B0-A856-D678-B9C710EC727A}"/>
              </a:ext>
            </a:extLst>
          </p:cNvPr>
          <p:cNvSpPr txBox="1"/>
          <p:nvPr/>
        </p:nvSpPr>
        <p:spPr>
          <a:xfrm>
            <a:off x="1543479" y="658871"/>
            <a:ext cx="9769641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Title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Video Game Sales (1980 – 2024) Analysis</a:t>
            </a:r>
          </a:p>
          <a:p>
            <a:endParaRPr lang="en-US" altLang="zh-HK" sz="4000" dirty="0"/>
          </a:p>
          <a:p>
            <a:r>
              <a:rPr lang="en-US" altLang="zh-HK" sz="4000" b="1" dirty="0"/>
              <a:t>Objectives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Identify key factors which influence sales performance (e.g. platform, genre, region)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Provide sales strategy for game publishers and developers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altLang="zh-HK" sz="40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HK" sz="3500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09189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88D43BC-12CA-E5D0-3866-B937B73C4F16}"/>
              </a:ext>
            </a:extLst>
          </p:cNvPr>
          <p:cNvSpPr txBox="1"/>
          <p:nvPr/>
        </p:nvSpPr>
        <p:spPr>
          <a:xfrm>
            <a:off x="936172" y="920621"/>
            <a:ext cx="110163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Dataset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A collection of 64,000+ video games across &gt;40 years of gaming history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Contains 14 features</a:t>
            </a:r>
          </a:p>
          <a:p>
            <a:r>
              <a:rPr lang="en-US" altLang="zh-HK" sz="4000" dirty="0"/>
              <a:t>   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zh-HK" altLang="en-US" sz="4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AE84E3-0475-BE04-9120-2E6FE46B4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8194"/>
            <a:ext cx="12192000" cy="25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7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888BAC4-924F-62E2-E987-9BC23BBEC6A3}"/>
              </a:ext>
            </a:extLst>
          </p:cNvPr>
          <p:cNvSpPr txBox="1"/>
          <p:nvPr/>
        </p:nvSpPr>
        <p:spPr>
          <a:xfrm>
            <a:off x="625928" y="0"/>
            <a:ext cx="98080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b="1" dirty="0"/>
              <a:t>Dataset Characteristics</a:t>
            </a:r>
            <a:endParaRPr lang="zh-HK" altLang="en-US" sz="2500" b="1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FE8364D-52D7-8594-6026-D790E3428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14201"/>
              </p:ext>
            </p:extLst>
          </p:nvPr>
        </p:nvGraphicFramePr>
        <p:xfrm>
          <a:off x="713014" y="477054"/>
          <a:ext cx="11097986" cy="63469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3898">
                  <a:extLst>
                    <a:ext uri="{9D8B030D-6E8A-4147-A177-3AD203B41FA5}">
                      <a16:colId xmlns:a16="http://schemas.microsoft.com/office/drawing/2014/main" val="1630140406"/>
                    </a:ext>
                  </a:extLst>
                </a:gridCol>
                <a:gridCol w="4728917">
                  <a:extLst>
                    <a:ext uri="{9D8B030D-6E8A-4147-A177-3AD203B41FA5}">
                      <a16:colId xmlns:a16="http://schemas.microsoft.com/office/drawing/2014/main" val="2349644605"/>
                    </a:ext>
                  </a:extLst>
                </a:gridCol>
                <a:gridCol w="1621971">
                  <a:extLst>
                    <a:ext uri="{9D8B030D-6E8A-4147-A177-3AD203B41FA5}">
                      <a16:colId xmlns:a16="http://schemas.microsoft.com/office/drawing/2014/main" val="2018891572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1112035291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23566310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Variable Name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Description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Variable Type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Category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Data Type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0471984"/>
                  </a:ext>
                </a:extLst>
              </a:tr>
              <a:tr h="402832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img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URL for game cover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Qualitative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Nominal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7951187"/>
                  </a:ext>
                </a:extLst>
              </a:tr>
              <a:tr h="413658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title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Game title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Qualitative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Nominal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3171705"/>
                  </a:ext>
                </a:extLst>
              </a:tr>
              <a:tr h="50075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console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Platform that the game was released on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Qualitative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Nominal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9271020"/>
                  </a:ext>
                </a:extLst>
              </a:tr>
              <a:tr h="417724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genre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Genre of the game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Qualitative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Nominal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4530231"/>
                  </a:ext>
                </a:extLst>
              </a:tr>
              <a:tr h="402772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publisher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Publisher of the game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Qualitative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Nominal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346244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developer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Developer of the game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Qualitative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Nominal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5242732"/>
                  </a:ext>
                </a:extLst>
              </a:tr>
              <a:tr h="446314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critic_score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Metacritic score (out of 10)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Quantitative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Continuous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Float64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7757734"/>
                  </a:ext>
                </a:extLst>
              </a:tr>
              <a:tr h="402833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total_sales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Global sales of copies in millions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Quantitative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Continuous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Float64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78078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na_sales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North American sales of copies in millions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Quantitative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Continuous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Float64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431645"/>
                  </a:ext>
                </a:extLst>
              </a:tr>
              <a:tr h="39367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jp_sales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Japanese sales of copies in millions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Quantitative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Continuous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Float64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7517241"/>
                  </a:ext>
                </a:extLst>
              </a:tr>
              <a:tr h="50075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pal_sales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European &amp; African sales of copies in millions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Quantitative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Continuous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Float64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3664682"/>
                  </a:ext>
                </a:extLst>
              </a:tr>
              <a:tr h="50075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other_sales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Other regional sales of copies in millions 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Quantitative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Continuous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Float64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6019737"/>
                  </a:ext>
                </a:extLst>
              </a:tr>
              <a:tr h="33473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release_date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Date that the game was released on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Temporal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N/A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4789276"/>
                  </a:ext>
                </a:extLst>
              </a:tr>
              <a:tr h="33473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last_update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Date that the data was last updated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Temporal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N/A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000" kern="100" dirty="0">
                        <a:effectLst/>
                      </a:endParaRPr>
                    </a:p>
                    <a:p>
                      <a:pPr>
                        <a:lnSpc>
                          <a:spcPts val="12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Object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449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24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8946246-2D4B-83CD-2E24-BEB1D5867CFD}"/>
              </a:ext>
            </a:extLst>
          </p:cNvPr>
          <p:cNvSpPr txBox="1"/>
          <p:nvPr/>
        </p:nvSpPr>
        <p:spPr>
          <a:xfrm>
            <a:off x="1164771" y="914400"/>
            <a:ext cx="103523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Data Preprocessing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Check the dimension of the dataset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altLang="zh-HK" sz="4000" dirty="0"/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altLang="zh-HK" sz="40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Drop “</a:t>
            </a:r>
            <a:r>
              <a:rPr lang="en-US" altLang="zh-HK" sz="4000" dirty="0" err="1"/>
              <a:t>img</a:t>
            </a:r>
            <a:r>
              <a:rPr lang="en-US" altLang="zh-HK" sz="4000" dirty="0"/>
              <a:t>” and “</a:t>
            </a:r>
            <a:r>
              <a:rPr lang="en-US" altLang="zh-HK" sz="4000" dirty="0" err="1"/>
              <a:t>last_update</a:t>
            </a:r>
            <a:r>
              <a:rPr lang="en-US" altLang="zh-HK" sz="4000" dirty="0"/>
              <a:t>” (irrelevant)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In “developer”, fill the missing values with “Unknown” (retain valuable data)</a:t>
            </a:r>
          </a:p>
          <a:p>
            <a:r>
              <a:rPr lang="en-US" altLang="zh-HK" sz="4000" dirty="0"/>
              <a:t>    </a:t>
            </a:r>
            <a:endParaRPr lang="zh-HK" altLang="en-US" sz="4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6FD7348-1873-7ED4-ED3F-D94A5C21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93" y="2321928"/>
            <a:ext cx="1884310" cy="71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2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90BB655-7AC0-4664-B5AF-51A1089ACC09}"/>
              </a:ext>
            </a:extLst>
          </p:cNvPr>
          <p:cNvSpPr txBox="1"/>
          <p:nvPr/>
        </p:nvSpPr>
        <p:spPr>
          <a:xfrm>
            <a:off x="1447800" y="892629"/>
            <a:ext cx="994954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Data Preprocessing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In “</a:t>
            </a:r>
            <a:r>
              <a:rPr lang="en-US" altLang="zh-HK" sz="4000" dirty="0" err="1"/>
              <a:t>critic_score</a:t>
            </a:r>
            <a:r>
              <a:rPr lang="en-US" altLang="zh-HK" sz="4000" dirty="0"/>
              <a:t>”, fill the missing values with KNN Imputation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Find the most similar K neighbors by calculating the distance between data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Fill the missing values by mean or median </a:t>
            </a:r>
          </a:p>
          <a:p>
            <a:pPr lvl="1"/>
            <a:r>
              <a:rPr lang="en-US" altLang="zh-HK" sz="4000" dirty="0"/>
              <a:t>    of the neighbors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Here K=5</a:t>
            </a:r>
          </a:p>
          <a:p>
            <a:r>
              <a:rPr lang="en-US" altLang="zh-HK" sz="4000" dirty="0"/>
              <a:t>    </a:t>
            </a:r>
          </a:p>
          <a:p>
            <a:r>
              <a:rPr lang="zh-HK" altLang="en-US" sz="4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243116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D3F766F-88BD-38BD-6763-A02316A2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1228440"/>
            <a:ext cx="11260121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1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AE821E9-C1F5-1CCA-7FB5-C5BD283A9963}"/>
              </a:ext>
            </a:extLst>
          </p:cNvPr>
          <p:cNvSpPr txBox="1"/>
          <p:nvPr/>
        </p:nvSpPr>
        <p:spPr>
          <a:xfrm>
            <a:off x="1436914" y="468085"/>
            <a:ext cx="99930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Data Preprocessing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In “</a:t>
            </a:r>
            <a:r>
              <a:rPr lang="en-US" altLang="zh-HK" sz="4000" dirty="0" err="1"/>
              <a:t>total_sales</a:t>
            </a:r>
            <a:r>
              <a:rPr lang="en-US" altLang="zh-HK" sz="4000" dirty="0"/>
              <a:t>”, delete the rows with value 0 and with missing values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0: impossible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Missing values: also have missing values in regional sales -&gt; delete directly</a:t>
            </a:r>
          </a:p>
          <a:p>
            <a:endParaRPr lang="zh-HK" altLang="en-US" sz="4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962731-AB33-81C8-58CA-9B3718A9C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348" y="4328276"/>
            <a:ext cx="606827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3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58912F-FA95-F8EA-DDD7-2E6F7BE39258}"/>
              </a:ext>
            </a:extLst>
          </p:cNvPr>
          <p:cNvSpPr txBox="1"/>
          <p:nvPr/>
        </p:nvSpPr>
        <p:spPr>
          <a:xfrm>
            <a:off x="1295400" y="1001877"/>
            <a:ext cx="101128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Data Preprocessing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In “</a:t>
            </a:r>
            <a:r>
              <a:rPr lang="en-US" altLang="zh-HK" sz="4000" dirty="0" err="1"/>
              <a:t>na_sales</a:t>
            </a:r>
            <a:r>
              <a:rPr lang="en-US" altLang="zh-HK" sz="4000" dirty="0"/>
              <a:t>”, “</a:t>
            </a:r>
            <a:r>
              <a:rPr lang="en-US" altLang="zh-HK" sz="4000" dirty="0" err="1"/>
              <a:t>jp_sales</a:t>
            </a:r>
            <a:r>
              <a:rPr lang="en-US" altLang="zh-HK" sz="4000" dirty="0"/>
              <a:t>”, “</a:t>
            </a:r>
            <a:r>
              <a:rPr lang="en-US" altLang="zh-HK" sz="4000" dirty="0" err="1"/>
              <a:t>pal_sales</a:t>
            </a:r>
            <a:r>
              <a:rPr lang="en-US" altLang="zh-HK" sz="4000" dirty="0"/>
              <a:t>” and “</a:t>
            </a:r>
            <a:r>
              <a:rPr lang="en-US" altLang="zh-HK" sz="4000" dirty="0" err="1"/>
              <a:t>other_sales</a:t>
            </a:r>
            <a:r>
              <a:rPr lang="en-US" altLang="zh-HK" sz="4000" dirty="0"/>
              <a:t>”, fill the missing values with 0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Regional sales can be 0 (Not released in that region or prohibited from selling)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In “</a:t>
            </a:r>
            <a:r>
              <a:rPr lang="en-US" altLang="zh-HK" sz="4000" dirty="0" err="1"/>
              <a:t>other_sales</a:t>
            </a:r>
            <a:r>
              <a:rPr lang="en-US" altLang="zh-HK" sz="4000" dirty="0"/>
              <a:t>”, delete erroneous input (date)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endParaRPr lang="en-US" altLang="zh-HK" sz="4000" dirty="0"/>
          </a:p>
        </p:txBody>
      </p:sp>
    </p:spTree>
    <p:extLst>
      <p:ext uri="{BB962C8B-B14F-4D97-AF65-F5344CB8AC3E}">
        <p14:creationId xmlns:p14="http://schemas.microsoft.com/office/powerpoint/2010/main" val="13883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AB2C44E-2E64-C457-823A-D90F618F366E}"/>
              </a:ext>
            </a:extLst>
          </p:cNvPr>
          <p:cNvSpPr txBox="1"/>
          <p:nvPr/>
        </p:nvSpPr>
        <p:spPr>
          <a:xfrm>
            <a:off x="1611085" y="1295400"/>
            <a:ext cx="94705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Data Preprocessing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In ‘</a:t>
            </a:r>
            <a:r>
              <a:rPr lang="en-US" altLang="zh-HK" sz="4000" dirty="0" err="1"/>
              <a:t>release_date</a:t>
            </a:r>
            <a:r>
              <a:rPr lang="en-US" altLang="zh-HK" sz="4000" dirty="0"/>
              <a:t>’, drop the rows with missing values (date cannot be estimated)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4000" dirty="0"/>
              <a:t>Only year is extracted (month and day are not important)</a:t>
            </a:r>
            <a:endParaRPr lang="zh-HK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367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FADE28-15D3-90F1-6525-B45B4A581821}"/>
              </a:ext>
            </a:extLst>
          </p:cNvPr>
          <p:cNvSpPr txBox="1"/>
          <p:nvPr/>
        </p:nvSpPr>
        <p:spPr>
          <a:xfrm>
            <a:off x="2008413" y="938153"/>
            <a:ext cx="81751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dirty="0"/>
              <a:t>Data cleansing is completed!</a:t>
            </a:r>
          </a:p>
          <a:p>
            <a:pPr algn="ctr"/>
            <a:endParaRPr lang="en-US" altLang="zh-HK" sz="4000" dirty="0"/>
          </a:p>
          <a:p>
            <a:pPr algn="ctr"/>
            <a:endParaRPr lang="en-US" altLang="zh-HK" sz="4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D30E86-8D0D-5078-9B49-603098290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7020"/>
            <a:ext cx="12192000" cy="267258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E229C8F-31C9-66CE-2419-C967FE05053C}"/>
              </a:ext>
            </a:extLst>
          </p:cNvPr>
          <p:cNvSpPr txBox="1"/>
          <p:nvPr/>
        </p:nvSpPr>
        <p:spPr>
          <a:xfrm>
            <a:off x="1426027" y="4776723"/>
            <a:ext cx="2394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dirty="0"/>
              <a:t>Dimension:</a:t>
            </a:r>
            <a:endParaRPr lang="zh-HK" altLang="en-US" sz="4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DF979C-160A-9CEB-C95B-38AAEFD0C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884" y="4911560"/>
            <a:ext cx="1756520" cy="57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9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ED438F1-A7B4-AB0F-1804-243B3908E4D4}"/>
              </a:ext>
            </a:extLst>
          </p:cNvPr>
          <p:cNvSpPr txBox="1"/>
          <p:nvPr/>
        </p:nvSpPr>
        <p:spPr>
          <a:xfrm>
            <a:off x="725941" y="511629"/>
            <a:ext cx="85017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dirty="0"/>
              <a:t>We first take a look at the top 10 bestselling games…</a:t>
            </a:r>
            <a:endParaRPr lang="zh-HK" altLang="en-US" sz="3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2DF360-0B7E-C9AA-0D96-FF538C72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41" y="1254399"/>
            <a:ext cx="7348032" cy="473274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8880678-E2BB-8D06-FC08-84D73DF48A37}"/>
              </a:ext>
            </a:extLst>
          </p:cNvPr>
          <p:cNvSpPr txBox="1"/>
          <p:nvPr/>
        </p:nvSpPr>
        <p:spPr>
          <a:xfrm>
            <a:off x="8523515" y="2180939"/>
            <a:ext cx="34725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dirty="0"/>
              <a:t>Dominated by GTA, </a:t>
            </a:r>
          </a:p>
          <a:p>
            <a:r>
              <a:rPr lang="en-US" altLang="zh-HK" sz="3000" dirty="0"/>
              <a:t>COD, RDR Franchise</a:t>
            </a: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91226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A7385B5-D684-F76F-A193-87D6C8873D0B}"/>
              </a:ext>
            </a:extLst>
          </p:cNvPr>
          <p:cNvSpPr txBox="1"/>
          <p:nvPr/>
        </p:nvSpPr>
        <p:spPr>
          <a:xfrm>
            <a:off x="495299" y="283029"/>
            <a:ext cx="10493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Univariate Analysis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3000" dirty="0"/>
              <a:t>Distribution of total sales (Histogram + Box plot)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HK" sz="3000" dirty="0"/>
              <a:t>Log scale is applied to total sales for clearer visualization</a:t>
            </a:r>
            <a:endParaRPr lang="zh-HK" altLang="en-US" sz="3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2C4BD2-8F1D-EAC6-499F-1F0C71E3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2017939"/>
            <a:ext cx="5524500" cy="43719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36F4F20-EF43-7E00-79D6-1F67E3916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389" y="2017939"/>
            <a:ext cx="55054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56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26672D0-FBBD-1D64-E28C-5D3181907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538" y="211672"/>
            <a:ext cx="3935187" cy="31142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B46BFE7-F37F-2874-B03D-D64584AE0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538" y="3737882"/>
            <a:ext cx="3935188" cy="283224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CA06237-EBCD-5670-5ACD-8B098361115A}"/>
              </a:ext>
            </a:extLst>
          </p:cNvPr>
          <p:cNvSpPr txBox="1"/>
          <p:nvPr/>
        </p:nvSpPr>
        <p:spPr>
          <a:xfrm>
            <a:off x="665391" y="1074509"/>
            <a:ext cx="713014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Right-skewed distribution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Many outliers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Most games have modest sales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Top sales are dominated by few games</a:t>
            </a:r>
          </a:p>
          <a:p>
            <a:pPr lvl="1"/>
            <a:r>
              <a:rPr lang="en-US" altLang="zh-HK" sz="3000" dirty="0"/>
              <a:t>     like GTA, COD and FIFA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Major publishers should continue these IPs </a:t>
            </a:r>
          </a:p>
          <a:p>
            <a:r>
              <a:rPr lang="en-US" altLang="zh-HK" sz="3000" dirty="0"/>
              <a:t>    rather than developing a new one to</a:t>
            </a:r>
          </a:p>
          <a:p>
            <a:r>
              <a:rPr lang="en-US" altLang="zh-HK" sz="3000" dirty="0"/>
              <a:t>    mitigate financial risk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441411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1E1DB6C-788E-E189-8B13-20BFAE36007C}"/>
              </a:ext>
            </a:extLst>
          </p:cNvPr>
          <p:cNvSpPr txBox="1"/>
          <p:nvPr/>
        </p:nvSpPr>
        <p:spPr>
          <a:xfrm>
            <a:off x="566058" y="515425"/>
            <a:ext cx="10477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Univariate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Distribution of critic score (KDE plot + Box plot)</a:t>
            </a:r>
            <a:endParaRPr lang="zh-HK" altLang="en-US" sz="3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E8AFD7-F838-A73E-EB0C-5934C23DB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8" y="1686605"/>
            <a:ext cx="5400675" cy="43338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62D35C0-17F5-095A-D5CE-43772D3D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92" y="1686605"/>
            <a:ext cx="53530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72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B75DF11-7071-B6C5-5417-80E59FA04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429" y="195264"/>
            <a:ext cx="3767819" cy="302355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6A1AF1E-A884-C6D4-981B-E1664FD64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29" y="3429000"/>
            <a:ext cx="3808902" cy="28194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CAF5D18-4F03-F272-9939-C00A79EA9A9B}"/>
              </a:ext>
            </a:extLst>
          </p:cNvPr>
          <p:cNvSpPr txBox="1"/>
          <p:nvPr/>
        </p:nvSpPr>
        <p:spPr>
          <a:xfrm>
            <a:off x="368752" y="1514713"/>
            <a:ext cx="733697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Left-skewed distribution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Median ~ 7, mode ~ 6.7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Bilateral outliers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Scores are extreme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Industry standard of 7 should be achieved by developers to avoid negative perception</a:t>
            </a:r>
          </a:p>
        </p:txBody>
      </p:sp>
    </p:spTree>
    <p:extLst>
      <p:ext uri="{BB962C8B-B14F-4D97-AF65-F5344CB8AC3E}">
        <p14:creationId xmlns:p14="http://schemas.microsoft.com/office/powerpoint/2010/main" val="796462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05F438-5679-8B3C-EB9B-55958E5A50EB}"/>
              </a:ext>
            </a:extLst>
          </p:cNvPr>
          <p:cNvSpPr txBox="1"/>
          <p:nvPr/>
        </p:nvSpPr>
        <p:spPr>
          <a:xfrm>
            <a:off x="1153885" y="424542"/>
            <a:ext cx="91113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Bivariate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Total sales vs critic score (Scatter plot)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Question: Must higher critic score indicate better sales?</a:t>
            </a:r>
            <a:endParaRPr lang="zh-HK" altLang="en-US" sz="3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60DAC7-304A-5BD8-0FDB-CF10620BE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5" y="2099583"/>
            <a:ext cx="5505450" cy="433387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E2F74AE-9BC6-6618-A115-F22B1F133346}"/>
              </a:ext>
            </a:extLst>
          </p:cNvPr>
          <p:cNvSpPr txBox="1"/>
          <p:nvPr/>
        </p:nvSpPr>
        <p:spPr>
          <a:xfrm>
            <a:off x="7195456" y="2299364"/>
            <a:ext cx="3929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dirty="0"/>
              <a:t>Correlation coefficient r </a:t>
            </a:r>
          </a:p>
          <a:p>
            <a:r>
              <a:rPr lang="en-US" altLang="zh-HK" sz="3000" dirty="0"/>
              <a:t>= </a:t>
            </a:r>
            <a:endParaRPr lang="zh-HK" altLang="en-US" sz="3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5988974-4E50-7AE7-345E-0889CB9D0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565" y="2807195"/>
            <a:ext cx="2650499" cy="55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69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57C46C8-10C4-D8A5-9EC6-A9043B17E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403" y="1425348"/>
            <a:ext cx="5090597" cy="400730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57D3DC8-05C3-4C1D-36A3-C156AFFF56CB}"/>
              </a:ext>
            </a:extLst>
          </p:cNvPr>
          <p:cNvSpPr txBox="1"/>
          <p:nvPr/>
        </p:nvSpPr>
        <p:spPr>
          <a:xfrm>
            <a:off x="223158" y="151179"/>
            <a:ext cx="715735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r = 0.337, a positive but weak relationship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Score alone is not an ultimate predictor of sales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Within score of 5 – 9, sales have significant variance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Sales is affected by external factors like marketing spend, brand loyalty and release timing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Below score of 3, there are rarely “breakout hits”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Moderate to high scores is not a guarantee of success, but a prerequisite of it</a:t>
            </a: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569758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BDCFC32-68BF-9F6E-C6C7-0A7E59C20EFD}"/>
              </a:ext>
            </a:extLst>
          </p:cNvPr>
          <p:cNvSpPr txBox="1"/>
          <p:nvPr/>
        </p:nvSpPr>
        <p:spPr>
          <a:xfrm>
            <a:off x="1262742" y="299319"/>
            <a:ext cx="868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Bivariate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Gamers’ preference by genre (horizontal bar chart)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HK" sz="3000" dirty="0"/>
          </a:p>
          <a:p>
            <a:endParaRPr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B47AC2-A4C2-A510-CEE0-65F8E3D69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42" y="1394050"/>
            <a:ext cx="7315199" cy="529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96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0B72591-DEAD-2EB2-76DB-4E53FE40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077" y="1412789"/>
            <a:ext cx="5011063" cy="362729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8D01437-6118-8BB6-E90A-9BF405073DB9}"/>
              </a:ext>
            </a:extLst>
          </p:cNvPr>
          <p:cNvSpPr txBox="1"/>
          <p:nvPr/>
        </p:nvSpPr>
        <p:spPr>
          <a:xfrm>
            <a:off x="272144" y="843677"/>
            <a:ext cx="705938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Top 3 genres: Sports, Action and Shooter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Developers should prioritize these genres to maximize profits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Lower-budget genres like Simulation, Puzzle and Visual Novel have relatively lower sales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Genre is a more critical factor of success than score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Mediocre Action &gt;&gt; High-quality Visual Novel in terms of sales</a:t>
            </a: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785073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09E61E8-00D8-125A-5C5C-76F57F53D8D4}"/>
              </a:ext>
            </a:extLst>
          </p:cNvPr>
          <p:cNvSpPr txBox="1"/>
          <p:nvPr/>
        </p:nvSpPr>
        <p:spPr>
          <a:xfrm>
            <a:off x="1338942" y="97971"/>
            <a:ext cx="72825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Bivariate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Market share by consoles (pie chart)</a:t>
            </a:r>
          </a:p>
          <a:p>
            <a:endParaRPr lang="en-US" altLang="zh-HK" sz="3000" b="1" dirty="0"/>
          </a:p>
          <a:p>
            <a:endParaRPr lang="en-US" altLang="zh-HK" sz="3000" b="1" dirty="0"/>
          </a:p>
          <a:p>
            <a:endParaRPr lang="zh-HK" altLang="en-US" sz="30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826168-7BD2-ABAE-AA9C-C29C03BAA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4" y="1123950"/>
            <a:ext cx="756285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11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32433D6-8C50-5001-3C11-9F536F16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895" y="1428749"/>
            <a:ext cx="4906699" cy="372019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4AF092A-67D9-778A-FFBC-BA77405A9CBD}"/>
              </a:ext>
            </a:extLst>
          </p:cNvPr>
          <p:cNvSpPr txBox="1"/>
          <p:nvPr/>
        </p:nvSpPr>
        <p:spPr>
          <a:xfrm>
            <a:off x="478971" y="838200"/>
            <a:ext cx="636814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Sony has the largest console market in history (PS2+PS3+PS+PS4+PSP)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“Generation carry-over”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Xbox360 and PS3 have nearly the same market share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Success of Microsoft is driven by Xbox Live online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Publishers should avoid platform exclusivity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Many PlayStation-exclusive games port to PC few years later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Handheld markets cannot be neglected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Former handheld developers should now target mobile market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505241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50ACBE5-4E97-ADCB-6C06-2C63D7FF1216}"/>
              </a:ext>
            </a:extLst>
          </p:cNvPr>
          <p:cNvSpPr txBox="1"/>
          <p:nvPr/>
        </p:nvSpPr>
        <p:spPr>
          <a:xfrm>
            <a:off x="359229" y="239486"/>
            <a:ext cx="11930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Multivariate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Correlation heatmap (critic score, total sales, regional sales, release year)</a:t>
            </a:r>
          </a:p>
          <a:p>
            <a:endParaRPr lang="en-US" altLang="zh-HK" sz="30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HK" altLang="en-US" sz="30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BA4604-434F-8737-1CE9-AEF20424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31" y="1208982"/>
            <a:ext cx="6535138" cy="564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43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BFE3173-AFDD-157E-8336-95B985786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029" y="1306953"/>
            <a:ext cx="4552083" cy="393485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3C6FDB3-5D6E-8BB5-B96D-A751BF3520C5}"/>
              </a:ext>
            </a:extLst>
          </p:cNvPr>
          <p:cNvSpPr txBox="1"/>
          <p:nvPr/>
        </p:nvSpPr>
        <p:spPr>
          <a:xfrm>
            <a:off x="522515" y="926163"/>
            <a:ext cx="71519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Global sales has high correlation with North American sales (0.91), European sales (0.9) and sales in other regions (0.86),</a:t>
            </a:r>
            <a:r>
              <a:rPr lang="zh-HK" altLang="en-US" sz="2500" dirty="0"/>
              <a:t> </a:t>
            </a:r>
            <a:r>
              <a:rPr lang="en-US" altLang="zh-HK" sz="2500" dirty="0"/>
              <a:t>except</a:t>
            </a:r>
            <a:r>
              <a:rPr lang="zh-HK" altLang="en-US" sz="2500" dirty="0"/>
              <a:t> </a:t>
            </a:r>
            <a:r>
              <a:rPr lang="en-US" altLang="zh-HK" sz="2500" dirty="0"/>
              <a:t>for</a:t>
            </a:r>
            <a:r>
              <a:rPr lang="zh-HK" altLang="en-US" sz="2500" dirty="0"/>
              <a:t> </a:t>
            </a:r>
            <a:r>
              <a:rPr lang="en-US" altLang="zh-HK" sz="2500" dirty="0"/>
              <a:t>Japanese</a:t>
            </a:r>
            <a:r>
              <a:rPr lang="zh-HK" altLang="en-US" sz="2500" dirty="0"/>
              <a:t> </a:t>
            </a:r>
            <a:r>
              <a:rPr lang="en-US" altLang="zh-HK" sz="2500" dirty="0"/>
              <a:t>sales</a:t>
            </a:r>
            <a:r>
              <a:rPr lang="zh-HK" altLang="en-US" sz="2500" dirty="0"/>
              <a:t> </a:t>
            </a:r>
            <a:r>
              <a:rPr lang="en-US" altLang="zh-HK" sz="2500" dirty="0"/>
              <a:t>(0.21)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Japan is a distinct and independent market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Cultural adaptation for Japanese market (Special character design, themes)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Pre-order sales in NA used as an indicator for marketing spend in Western countries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500" dirty="0"/>
              <a:t>Developers should invest heavily on graphic and storytelling if they want to target Western markets</a:t>
            </a:r>
          </a:p>
        </p:txBody>
      </p:sp>
    </p:spTree>
    <p:extLst>
      <p:ext uri="{BB962C8B-B14F-4D97-AF65-F5344CB8AC3E}">
        <p14:creationId xmlns:p14="http://schemas.microsoft.com/office/powerpoint/2010/main" val="2423452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943E021-2E7C-8BD8-AD39-411A4204CDF3}"/>
              </a:ext>
            </a:extLst>
          </p:cNvPr>
          <p:cNvSpPr txBox="1"/>
          <p:nvPr/>
        </p:nvSpPr>
        <p:spPr>
          <a:xfrm>
            <a:off x="1197429" y="533401"/>
            <a:ext cx="80336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Multivariate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Regional sales by genres (bar chart)</a:t>
            </a:r>
            <a:endParaRPr lang="zh-HK" altLang="en-US" sz="3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21D941-686B-2852-AE7C-A832BF94B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9" y="1644772"/>
            <a:ext cx="9135837" cy="521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48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A5B7C1F-1889-19B6-87D3-98F4A11678C2}"/>
              </a:ext>
            </a:extLst>
          </p:cNvPr>
          <p:cNvSpPr txBox="1"/>
          <p:nvPr/>
        </p:nvSpPr>
        <p:spPr>
          <a:xfrm>
            <a:off x="500743" y="947056"/>
            <a:ext cx="631371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Observations and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Action, Shooter and Sports games perform well globally except for Japan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Publishers of these games should prioritize digital distribution in Japan to reduce cost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Japan has unique preference for RPG and Visual Novel games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Entry point for indie developers due to low cost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HK" sz="30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HK" sz="3000" dirty="0"/>
          </a:p>
          <a:p>
            <a:endParaRPr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5B6F9A-7B07-B9E9-42F6-D1330C28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933" y="947791"/>
            <a:ext cx="5581067" cy="318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98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57E89D1-050F-892C-6122-AF0AAC8CCED3}"/>
              </a:ext>
            </a:extLst>
          </p:cNvPr>
          <p:cNvSpPr txBox="1"/>
          <p:nvPr/>
        </p:nvSpPr>
        <p:spPr>
          <a:xfrm>
            <a:off x="903513" y="843677"/>
            <a:ext cx="1088571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Challenges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“One Man Army”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Coding, report and presentation all by myself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Handling missing values and zeros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Remove them all would remain ~1700 rows (not enough and not accurate)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Handle each column one by one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Handling outliers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“</a:t>
            </a:r>
            <a:r>
              <a:rPr lang="en-US" altLang="zh-HK" sz="3000" dirty="0" err="1"/>
              <a:t>total_sales</a:t>
            </a:r>
            <a:r>
              <a:rPr lang="en-US" altLang="zh-HK" sz="3000" dirty="0"/>
              <a:t>”: values between 0.01 and 20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Plotting “</a:t>
            </a:r>
            <a:r>
              <a:rPr lang="en-US" altLang="zh-HK" sz="3000" dirty="0" err="1"/>
              <a:t>total_sales</a:t>
            </a:r>
            <a:r>
              <a:rPr lang="en-US" altLang="zh-HK" sz="3000" dirty="0"/>
              <a:t>” results in poor visualization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Apply logarithm to “</a:t>
            </a:r>
            <a:r>
              <a:rPr lang="en-US" altLang="zh-HK" sz="3000" dirty="0" err="1"/>
              <a:t>total_sales</a:t>
            </a:r>
            <a:r>
              <a:rPr lang="en-US" altLang="zh-HK" sz="3000" dirty="0"/>
              <a:t>” for clearer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968960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7021BD7-CEEA-C9F4-F228-6D17904EDB29}"/>
              </a:ext>
            </a:extLst>
          </p:cNvPr>
          <p:cNvSpPr txBox="1"/>
          <p:nvPr/>
        </p:nvSpPr>
        <p:spPr>
          <a:xfrm>
            <a:off x="1172934" y="271582"/>
            <a:ext cx="10703379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Limitations of the dataset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Dataset contains digital sales? (Steam, Epic, PS Store)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If not, sales number is greatly underestimated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Dataset does not include cancelled games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HK" sz="3000" dirty="0"/>
          </a:p>
          <a:p>
            <a:r>
              <a:rPr lang="en-US" altLang="zh-HK" sz="3000" b="1" dirty="0"/>
              <a:t>Future improvement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Compare pre-release data (no. of likes from social media, trailer view counts in YouTube, Steam “Wishlist”) with final sales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Are these data a better predictor of sales than critic score?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How subscription service </a:t>
            </a:r>
            <a:r>
              <a:rPr lang="en-US" altLang="zh-HK" sz="3200" dirty="0"/>
              <a:t>(Xbox Game Pass, PS Plus, EA Play)</a:t>
            </a:r>
            <a:r>
              <a:rPr lang="en-US" altLang="zh-HK" sz="3000" dirty="0"/>
              <a:t> affects the sales of a game?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Popularity reflected by total sales or no. of downloads in subscription service?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112683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6483C44-D8D4-8A97-AEA2-90C55C072590}"/>
              </a:ext>
            </a:extLst>
          </p:cNvPr>
          <p:cNvSpPr txBox="1"/>
          <p:nvPr/>
        </p:nvSpPr>
        <p:spPr>
          <a:xfrm>
            <a:off x="457199" y="302359"/>
            <a:ext cx="1127760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000" b="1" dirty="0"/>
              <a:t>Ideas that were not implemented and the reasons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Principal Component Analysis (PCA)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Find the principal components that represent variables of similar attributes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Reduce the number of variables for easy analysis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Complicated and time-consuming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Random Forest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Consists of many decision trees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Each decision tree contains criteria used to predict the results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Might be more accurate than KNN Imputation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Time Series Forecast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Could be used to predict future sales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zh-HK" sz="3000" dirty="0"/>
              <a:t>Not implemented because it is not accurate to predict future sales using past data</a:t>
            </a:r>
          </a:p>
        </p:txBody>
      </p:sp>
    </p:spTree>
    <p:extLst>
      <p:ext uri="{BB962C8B-B14F-4D97-AF65-F5344CB8AC3E}">
        <p14:creationId xmlns:p14="http://schemas.microsoft.com/office/powerpoint/2010/main" val="3654853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2AD1762-F9AD-CA4B-8942-A3052798B84B}"/>
              </a:ext>
            </a:extLst>
          </p:cNvPr>
          <p:cNvSpPr txBox="1"/>
          <p:nvPr/>
        </p:nvSpPr>
        <p:spPr>
          <a:xfrm>
            <a:off x="636814" y="366623"/>
            <a:ext cx="1091837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800" b="1" dirty="0"/>
              <a:t>Summary and key insights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Franchise Continuity: continue current IPs instead of developing a new one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Quality Standard: achieve a minimum of score 7 to sell millions of copies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Genre-First Development: target popular genres rather than niche genres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Cross-Platform Strategy: multi-platform releases rather than platform-exclusive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Mobile Market: former handheld developers should now target mobile market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Localization of Japanese Market: special character designs and add RPG elements to penetrate Japanese market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HK" sz="2800" dirty="0"/>
              <a:t>Subscription Service: small studios should join subscription service to enhance sales and exposure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26670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B022866-24C5-3297-9031-1DB0C3AD3150}"/>
              </a:ext>
            </a:extLst>
          </p:cNvPr>
          <p:cNvSpPr txBox="1"/>
          <p:nvPr/>
        </p:nvSpPr>
        <p:spPr>
          <a:xfrm>
            <a:off x="952500" y="1426029"/>
            <a:ext cx="10287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000" b="1" dirty="0"/>
              <a:t>Reference</a:t>
            </a:r>
          </a:p>
          <a:p>
            <a:r>
              <a:rPr lang="en-US" altLang="zh-HK" sz="3200" dirty="0"/>
              <a:t>Divekar, B. (2024). Video Game Sales and Industry Data (1980-2024) [Data set]. Kaggle. https://www.kaggle.com/datasets/bhushandivekar/video-game-sales-and-industry-data-1980-2024</a:t>
            </a:r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131225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5861D2F-BD16-8528-A382-ABEFF0842D34}"/>
              </a:ext>
            </a:extLst>
          </p:cNvPr>
          <p:cNvSpPr txBox="1"/>
          <p:nvPr/>
        </p:nvSpPr>
        <p:spPr>
          <a:xfrm>
            <a:off x="1230085" y="2613392"/>
            <a:ext cx="97318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10000" dirty="0">
                <a:latin typeface="Bahnschrift SemiBold SemiConden" panose="020B0502040204020203" pitchFamily="34" charset="0"/>
              </a:rPr>
              <a:t>The End</a:t>
            </a:r>
            <a:endParaRPr lang="zh-HK" altLang="en-US" sz="100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016192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TM04033925[[fn=小水滴]]</Template>
  <TotalTime>585</TotalTime>
  <Words>1381</Words>
  <Application>Microsoft Office PowerPoint</Application>
  <PresentationFormat>寬螢幕</PresentationFormat>
  <Paragraphs>305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Arial</vt:lpstr>
      <vt:lpstr>Bahnschrift SemiBold SemiConden</vt:lpstr>
      <vt:lpstr>Calibri</vt:lpstr>
      <vt:lpstr>Tw Cen MT</vt:lpstr>
      <vt:lpstr>Wingdings</vt:lpstr>
      <vt:lpstr>小水滴</vt:lpstr>
      <vt:lpstr>AI Data Analytics Mini Project 1  Exploratory Data Analysis (EDA)   Group 3, Member: Yam Ching Long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 ITCL</dc:creator>
  <cp:lastModifiedBy>Tech1 ITCL</cp:lastModifiedBy>
  <cp:revision>11</cp:revision>
  <dcterms:created xsi:type="dcterms:W3CDTF">2026-04-08T01:57:46Z</dcterms:created>
  <dcterms:modified xsi:type="dcterms:W3CDTF">2026-04-18T15:23:43Z</dcterms:modified>
</cp:coreProperties>
</file>